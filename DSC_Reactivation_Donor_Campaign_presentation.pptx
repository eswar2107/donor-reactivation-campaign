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lacial Indifference Bold" charset="1" panose="00000800000000000000"/>
      <p:regular r:id="rId22"/>
    </p:embeddedFont>
    <p:embeddedFont>
      <p:font typeface="Glacial Indifference" charset="1" panose="00000000000000000000"/>
      <p:regular r:id="rId23"/>
    </p:embeddedFont>
    <p:embeddedFont>
      <p:font typeface="Open Sans" charset="1" panose="020B0606030504020204"/>
      <p:regular r:id="rId24"/>
    </p:embeddedFont>
    <p:embeddedFont>
      <p:font typeface="Cormorant Garamond Bold Italics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0979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809790" y="5826116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487" y="3849774"/>
            <a:ext cx="13774436" cy="511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8"/>
              </a:lnSpc>
            </a:pPr>
            <a:r>
              <a:rPr lang="en-US" sz="7008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PREDICTIVE MODEL</a:t>
            </a:r>
          </a:p>
          <a:p>
            <a:pPr algn="ctr">
              <a:lnSpc>
                <a:spcPts val="7008"/>
              </a:lnSpc>
            </a:pPr>
            <a:r>
              <a:rPr lang="en-US" sz="7008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 </a:t>
            </a:r>
          </a:p>
          <a:p>
            <a:pPr algn="ctr">
              <a:lnSpc>
                <a:spcPts val="7008"/>
              </a:lnSpc>
            </a:pPr>
            <a:r>
              <a:rPr lang="en-US" sz="7008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DSC DONOR’S </a:t>
            </a:r>
          </a:p>
          <a:p>
            <a:pPr algn="ctr">
              <a:lnSpc>
                <a:spcPts val="7008"/>
              </a:lnSpc>
            </a:pPr>
            <a:r>
              <a:rPr lang="en-US" sz="7008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RE-ACTIVATION CAMPAIGN</a:t>
            </a:r>
          </a:p>
          <a:p>
            <a:pPr algn="ctr" marL="0" indent="0" lvl="0">
              <a:lnSpc>
                <a:spcPts val="11507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H="true">
            <a:off x="1832447" y="2221779"/>
            <a:ext cx="0" cy="5843443"/>
          </a:xfrm>
          <a:prstGeom prst="line">
            <a:avLst/>
          </a:prstGeom>
          <a:ln cap="flat" w="57150">
            <a:solidFill>
              <a:srgbClr val="2D38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638868" y="140754"/>
            <a:ext cx="4175328" cy="3384818"/>
          </a:xfrm>
          <a:custGeom>
            <a:avLst/>
            <a:gdLst/>
            <a:ahLst/>
            <a:cxnLst/>
            <a:rect r="r" b="b" t="t" l="l"/>
            <a:pathLst>
              <a:path h="3384818" w="4175328">
                <a:moveTo>
                  <a:pt x="0" y="0"/>
                </a:moveTo>
                <a:lnTo>
                  <a:pt x="4175328" y="0"/>
                </a:lnTo>
                <a:lnTo>
                  <a:pt x="4175328" y="3384818"/>
                </a:lnTo>
                <a:lnTo>
                  <a:pt x="0" y="33848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42424" y="7998546"/>
            <a:ext cx="10368096" cy="260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Aarsi Poddar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Eswar Karthikeyan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Selima Medhioub</a:t>
            </a:r>
          </a:p>
          <a:p>
            <a:pPr algn="l" marL="0" indent="0" lvl="0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5986" y="-6672447"/>
            <a:ext cx="13066628" cy="10287000"/>
          </a:xfrm>
          <a:custGeom>
            <a:avLst/>
            <a:gdLst/>
            <a:ahLst/>
            <a:cxnLst/>
            <a:rect r="r" b="b" t="t" l="l"/>
            <a:pathLst>
              <a:path h="10287000" w="13066628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633585" y="1066001"/>
            <a:ext cx="11959488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62153"/>
            <a:ext cx="15904496" cy="530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2505" indent="-346252" lvl="1">
              <a:lnSpc>
                <a:spcPts val="5452"/>
              </a:lnSpc>
              <a:buFont typeface="Arial"/>
              <a:buChar char="•"/>
            </a:pPr>
            <a:r>
              <a:rPr lang="en-US" sz="3207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Non-profits often struggle to re-engage inactive donors.</a:t>
            </a:r>
          </a:p>
          <a:p>
            <a:pPr algn="just">
              <a:lnSpc>
                <a:spcPts val="5452"/>
              </a:lnSpc>
            </a:pPr>
          </a:p>
          <a:p>
            <a:pPr algn="just" marL="692505" indent="-346252" lvl="1">
              <a:lnSpc>
                <a:spcPts val="5452"/>
              </a:lnSpc>
              <a:buFont typeface="Arial"/>
              <a:buChar char="•"/>
            </a:pPr>
            <a:r>
              <a:rPr lang="en-US" sz="3207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DSC aims to improve its reactivation campaign by focusing only on donors most likely to respond.</a:t>
            </a:r>
          </a:p>
          <a:p>
            <a:pPr algn="just">
              <a:lnSpc>
                <a:spcPts val="5452"/>
              </a:lnSpc>
            </a:pPr>
          </a:p>
          <a:p>
            <a:pPr algn="just" marL="692505" indent="-346252" lvl="1">
              <a:lnSpc>
                <a:spcPts val="5452"/>
              </a:lnSpc>
              <a:buFont typeface="Arial"/>
              <a:buChar char="•"/>
            </a:pPr>
            <a:r>
              <a:rPr lang="en-US" sz="3207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predictive model can help target the right people, reduce costs, and increase campaign impact.</a:t>
            </a:r>
          </a:p>
          <a:p>
            <a:pPr algn="just" marL="0" indent="0" lvl="0">
              <a:lnSpc>
                <a:spcPts val="426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82390"/>
            <a:ext cx="7328478" cy="3104610"/>
          </a:xfrm>
          <a:custGeom>
            <a:avLst/>
            <a:gdLst/>
            <a:ahLst/>
            <a:cxnLst/>
            <a:rect r="r" b="b" t="t" l="l"/>
            <a:pathLst>
              <a:path h="3104610" w="7328478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4023" y="2604213"/>
            <a:ext cx="882795" cy="882795"/>
          </a:xfrm>
          <a:custGeom>
            <a:avLst/>
            <a:gdLst/>
            <a:ahLst/>
            <a:cxnLst/>
            <a:rect r="r" b="b" t="t" l="l"/>
            <a:pathLst>
              <a:path h="882795" w="882795">
                <a:moveTo>
                  <a:pt x="0" y="0"/>
                </a:moveTo>
                <a:lnTo>
                  <a:pt x="882796" y="0"/>
                </a:lnTo>
                <a:lnTo>
                  <a:pt x="882796" y="882795"/>
                </a:lnTo>
                <a:lnTo>
                  <a:pt x="0" y="882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04023" y="7725316"/>
            <a:ext cx="755887" cy="593715"/>
          </a:xfrm>
          <a:custGeom>
            <a:avLst/>
            <a:gdLst/>
            <a:ahLst/>
            <a:cxnLst/>
            <a:rect r="r" b="b" t="t" l="l"/>
            <a:pathLst>
              <a:path h="593715" w="755887">
                <a:moveTo>
                  <a:pt x="0" y="0"/>
                </a:moveTo>
                <a:lnTo>
                  <a:pt x="755887" y="0"/>
                </a:lnTo>
                <a:lnTo>
                  <a:pt x="755887" y="593714"/>
                </a:lnTo>
                <a:lnTo>
                  <a:pt x="0" y="593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40873" y="4352757"/>
            <a:ext cx="819036" cy="790743"/>
          </a:xfrm>
          <a:custGeom>
            <a:avLst/>
            <a:gdLst/>
            <a:ahLst/>
            <a:cxnLst/>
            <a:rect r="r" b="b" t="t" l="l"/>
            <a:pathLst>
              <a:path h="790743" w="819036">
                <a:moveTo>
                  <a:pt x="0" y="0"/>
                </a:moveTo>
                <a:lnTo>
                  <a:pt x="819037" y="0"/>
                </a:lnTo>
                <a:lnTo>
                  <a:pt x="819037" y="790743"/>
                </a:lnTo>
                <a:lnTo>
                  <a:pt x="0" y="7907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04023" y="6136666"/>
            <a:ext cx="755887" cy="432917"/>
          </a:xfrm>
          <a:custGeom>
            <a:avLst/>
            <a:gdLst/>
            <a:ahLst/>
            <a:cxnLst/>
            <a:rect r="r" b="b" t="t" l="l"/>
            <a:pathLst>
              <a:path h="432917" w="755887">
                <a:moveTo>
                  <a:pt x="0" y="0"/>
                </a:moveTo>
                <a:lnTo>
                  <a:pt x="755887" y="0"/>
                </a:lnTo>
                <a:lnTo>
                  <a:pt x="755887" y="432917"/>
                </a:lnTo>
                <a:lnTo>
                  <a:pt x="0" y="432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0672" y="835848"/>
            <a:ext cx="7955327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 strike="noStrike" u="non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TARGET DEFINITION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15525" y="2728828"/>
            <a:ext cx="11364146" cy="59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999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Goal</a:t>
            </a: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Re-activate inactive donors through targeted mail campaigns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15525" y="7689014"/>
            <a:ext cx="10808089" cy="122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29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Approach:</a:t>
            </a: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999" strike="noStrike" u="none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Random selection with 1.8% baseline response rate</a:t>
            </a:r>
          </a:p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098519" y="4452854"/>
            <a:ext cx="78314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Campaign Economics</a:t>
            </a:r>
            <a:r>
              <a:rPr lang="en-US" sz="30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€0.80 per letter cost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15525" y="6107864"/>
            <a:ext cx="928473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Focus:</a:t>
            </a:r>
            <a:r>
              <a:rPr lang="en-US" sz="30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Donors contributing ≥€30 for meaningful impact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54686" y="-6616842"/>
            <a:ext cx="13066628" cy="10287000"/>
          </a:xfrm>
          <a:custGeom>
            <a:avLst/>
            <a:gdLst/>
            <a:ahLst/>
            <a:cxnLst/>
            <a:rect r="r" b="b" t="t" l="l"/>
            <a:pathLst>
              <a:path h="10287000" w="13066628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992963" y="895350"/>
            <a:ext cx="11959488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TIMELINE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0362" y="6920041"/>
            <a:ext cx="14652325" cy="250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⟶ </a:t>
            </a:r>
            <a:r>
              <a:rPr lang="en-US" sz="2999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1900 days back</a:t>
            </a: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= 5+ years of donor history (recency, frequency, amounts</a:t>
            </a:r>
          </a:p>
          <a:p>
            <a:pPr algn="l">
              <a:lnSpc>
                <a:spcPts val="5099"/>
              </a:lnSpc>
            </a:pP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⟶</a:t>
            </a:r>
            <a:r>
              <a:rPr lang="en-US" sz="2999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999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 day gap</a:t>
            </a: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= Campaign date (decision point)</a:t>
            </a:r>
          </a:p>
          <a:p>
            <a:pPr algn="l">
              <a:lnSpc>
                <a:spcPts val="5099"/>
              </a:lnSpc>
            </a:pP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⟶</a:t>
            </a: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999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250 days forward</a:t>
            </a: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= Prediction window (did they donate ≥€30?)</a:t>
            </a:r>
          </a:p>
          <a:p>
            <a:pPr algn="l">
              <a:lnSpc>
                <a:spcPts val="509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40362" y="2798759"/>
            <a:ext cx="12822593" cy="3566895"/>
          </a:xfrm>
          <a:custGeom>
            <a:avLst/>
            <a:gdLst/>
            <a:ahLst/>
            <a:cxnLst/>
            <a:rect r="r" b="b" t="t" l="l"/>
            <a:pathLst>
              <a:path h="3566895" w="12822593">
                <a:moveTo>
                  <a:pt x="0" y="0"/>
                </a:moveTo>
                <a:lnTo>
                  <a:pt x="12822593" y="0"/>
                </a:lnTo>
                <a:lnTo>
                  <a:pt x="12822593" y="3566895"/>
                </a:lnTo>
                <a:lnTo>
                  <a:pt x="0" y="3566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112" b="-2163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3746" y="3196708"/>
            <a:ext cx="6558342" cy="4652916"/>
            <a:chOff x="0" y="0"/>
            <a:chExt cx="1727300" cy="1225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7300" cy="1225459"/>
            </a:xfrm>
            <a:custGeom>
              <a:avLst/>
              <a:gdLst/>
              <a:ahLst/>
              <a:cxnLst/>
              <a:rect r="r" b="b" t="t" l="l"/>
              <a:pathLst>
                <a:path h="1225459" w="1727300">
                  <a:moveTo>
                    <a:pt x="0" y="0"/>
                  </a:moveTo>
                  <a:lnTo>
                    <a:pt x="1727300" y="0"/>
                  </a:lnTo>
                  <a:lnTo>
                    <a:pt x="1727300" y="1225459"/>
                  </a:lnTo>
                  <a:lnTo>
                    <a:pt x="0" y="1225459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27300" cy="1282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895350"/>
            <a:ext cx="13122945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XGBOOST: OUR CHOSEN MODEL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58710" y="3196708"/>
            <a:ext cx="6558342" cy="4652916"/>
            <a:chOff x="0" y="0"/>
            <a:chExt cx="1727300" cy="12254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7300" cy="1225459"/>
            </a:xfrm>
            <a:custGeom>
              <a:avLst/>
              <a:gdLst/>
              <a:ahLst/>
              <a:cxnLst/>
              <a:rect r="r" b="b" t="t" l="l"/>
              <a:pathLst>
                <a:path h="1225459" w="1727300">
                  <a:moveTo>
                    <a:pt x="0" y="0"/>
                  </a:moveTo>
                  <a:lnTo>
                    <a:pt x="1727300" y="0"/>
                  </a:lnTo>
                  <a:lnTo>
                    <a:pt x="1727300" y="1225459"/>
                  </a:lnTo>
                  <a:lnTo>
                    <a:pt x="0" y="1225459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727300" cy="1282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15372" y="3978874"/>
            <a:ext cx="6955089" cy="314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2"/>
              </a:lnSpc>
              <a:spcBef>
                <a:spcPct val="0"/>
              </a:spcBef>
            </a:pPr>
            <a:r>
              <a:rPr lang="en-US" sz="466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Gradient Boosting</a:t>
            </a:r>
          </a:p>
          <a:p>
            <a:pPr algn="ctr">
              <a:lnSpc>
                <a:spcPts val="11698"/>
              </a:lnSpc>
              <a:spcBef>
                <a:spcPct val="0"/>
              </a:spcBef>
            </a:pPr>
            <a:r>
              <a:rPr lang="en-US" sz="688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0.65</a:t>
            </a:r>
          </a:p>
          <a:p>
            <a:pPr algn="ctr">
              <a:lnSpc>
                <a:spcPts val="5408"/>
              </a:lnSpc>
              <a:spcBef>
                <a:spcPct val="0"/>
              </a:spcBef>
            </a:pPr>
            <a:r>
              <a:rPr lang="en-US" sz="318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AUC Score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8710" y="3689192"/>
            <a:ext cx="6558342" cy="372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9"/>
              </a:lnSpc>
              <a:spcBef>
                <a:spcPct val="0"/>
              </a:spcBef>
            </a:pPr>
            <a:r>
              <a:rPr lang="en-US" sz="45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XGBoost ✓</a:t>
            </a:r>
          </a:p>
          <a:p>
            <a:pPr algn="ctr">
              <a:lnSpc>
                <a:spcPts val="11559"/>
              </a:lnSpc>
              <a:spcBef>
                <a:spcPct val="0"/>
              </a:spcBef>
            </a:pPr>
            <a:r>
              <a:rPr lang="en-US" sz="67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0.80</a:t>
            </a:r>
          </a:p>
          <a:p>
            <a:pPr algn="ctr">
              <a:lnSpc>
                <a:spcPts val="5099"/>
              </a:lnSpc>
              <a:spcBef>
                <a:spcPct val="0"/>
              </a:spcBef>
            </a:pP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AUC Score</a:t>
            </a:r>
          </a:p>
          <a:p>
            <a:pPr algn="ctr">
              <a:lnSpc>
                <a:spcPts val="5099"/>
              </a:lnSpc>
              <a:spcBef>
                <a:spcPct val="0"/>
              </a:spcBef>
            </a:pPr>
            <a:r>
              <a:rPr lang="en-US" sz="29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23% Better Performance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131838"/>
            <a:ext cx="6294687" cy="7493674"/>
          </a:xfrm>
          <a:custGeom>
            <a:avLst/>
            <a:gdLst/>
            <a:ahLst/>
            <a:cxnLst/>
            <a:rect r="r" b="b" t="t" l="l"/>
            <a:pathLst>
              <a:path h="7493674" w="6294687">
                <a:moveTo>
                  <a:pt x="0" y="0"/>
                </a:moveTo>
                <a:lnTo>
                  <a:pt x="6294687" y="0"/>
                </a:lnTo>
                <a:lnTo>
                  <a:pt x="6294687" y="7493674"/>
                </a:lnTo>
                <a:lnTo>
                  <a:pt x="0" y="7493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64504"/>
            <a:ext cx="15625654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 strike="noStrike" u="non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PREDICTION DRIVERS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52766" y="2343675"/>
            <a:ext cx="8182602" cy="644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3"/>
              </a:lnSpc>
              <a:spcBef>
                <a:spcPct val="0"/>
              </a:spcBef>
            </a:pPr>
          </a:p>
          <a:p>
            <a:pPr algn="just" marL="797790" indent="-398895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Donation consistency</a:t>
            </a:r>
          </a:p>
          <a:p>
            <a:pPr algn="just">
              <a:lnSpc>
                <a:spcPts val="5173"/>
              </a:lnSpc>
            </a:pPr>
          </a:p>
          <a:p>
            <a:pPr algn="just" marL="797790" indent="-398895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Age</a:t>
            </a:r>
          </a:p>
          <a:p>
            <a:pPr algn="just">
              <a:lnSpc>
                <a:spcPts val="5173"/>
              </a:lnSpc>
            </a:pPr>
          </a:p>
          <a:p>
            <a:pPr algn="just" marL="797790" indent="-398895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Gender</a:t>
            </a:r>
          </a:p>
          <a:p>
            <a:pPr algn="just">
              <a:lnSpc>
                <a:spcPts val="5173"/>
              </a:lnSpc>
            </a:pPr>
          </a:p>
          <a:p>
            <a:pPr algn="just" marL="797790" indent="-398895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Average donation amount by donor</a:t>
            </a:r>
          </a:p>
          <a:p>
            <a:pPr algn="just">
              <a:lnSpc>
                <a:spcPts val="5173"/>
              </a:lnSpc>
            </a:pPr>
          </a:p>
          <a:p>
            <a:pPr algn="just" marL="797790" indent="-398895" lvl="1">
              <a:lnSpc>
                <a:spcPts val="5173"/>
              </a:lnSpc>
              <a:buFont typeface="Arial"/>
              <a:buChar char="•"/>
            </a:pPr>
            <a:r>
              <a:rPr lang="en-US" sz="3695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Maximum donation by donor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809790" y="-513715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872" y="3026709"/>
            <a:ext cx="10643645" cy="6231591"/>
          </a:xfrm>
          <a:custGeom>
            <a:avLst/>
            <a:gdLst/>
            <a:ahLst/>
            <a:cxnLst/>
            <a:rect r="r" b="b" t="t" l="l"/>
            <a:pathLst>
              <a:path h="6231591" w="10643645">
                <a:moveTo>
                  <a:pt x="0" y="0"/>
                </a:moveTo>
                <a:lnTo>
                  <a:pt x="10643644" y="0"/>
                </a:lnTo>
                <a:lnTo>
                  <a:pt x="10643644" y="6231591"/>
                </a:lnTo>
                <a:lnTo>
                  <a:pt x="0" y="6231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620" r="0" b="-21022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02006"/>
            <a:ext cx="13122945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CUMULATIVE GAIN ANALYSIS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063499" y="3141102"/>
            <a:ext cx="6558342" cy="4652916"/>
            <a:chOff x="0" y="0"/>
            <a:chExt cx="1727300" cy="1225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7300" cy="1225459"/>
            </a:xfrm>
            <a:custGeom>
              <a:avLst/>
              <a:gdLst/>
              <a:ahLst/>
              <a:cxnLst/>
              <a:rect r="r" b="b" t="t" l="l"/>
              <a:pathLst>
                <a:path h="1225459" w="1727300">
                  <a:moveTo>
                    <a:pt x="0" y="0"/>
                  </a:moveTo>
                  <a:lnTo>
                    <a:pt x="1727300" y="0"/>
                  </a:lnTo>
                  <a:lnTo>
                    <a:pt x="1727300" y="1225459"/>
                  </a:lnTo>
                  <a:lnTo>
                    <a:pt x="0" y="1225459"/>
                  </a:lnTo>
                  <a:close/>
                </a:path>
              </a:pathLst>
            </a:custGeom>
            <a:solidFill>
              <a:srgbClr val="F3F2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27300" cy="1292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Top 10% captures - 35–40% of responders</a:t>
              </a:r>
            </a:p>
            <a:p>
              <a:pPr algn="ctr">
                <a:lnSpc>
                  <a:spcPts val="4899"/>
                </a:lnSpc>
              </a:pPr>
            </a:p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Much higher than random (10%)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84357" y="-652904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872" y="2704492"/>
            <a:ext cx="10051789" cy="6241279"/>
          </a:xfrm>
          <a:custGeom>
            <a:avLst/>
            <a:gdLst/>
            <a:ahLst/>
            <a:cxnLst/>
            <a:rect r="r" b="b" t="t" l="l"/>
            <a:pathLst>
              <a:path h="6241279" w="10051789">
                <a:moveTo>
                  <a:pt x="0" y="0"/>
                </a:moveTo>
                <a:lnTo>
                  <a:pt x="10051789" y="0"/>
                </a:lnTo>
                <a:lnTo>
                  <a:pt x="10051789" y="6241279"/>
                </a:lnTo>
                <a:lnTo>
                  <a:pt x="0" y="6241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7813" r="0" b="-9905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02006"/>
            <a:ext cx="13122945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LIFT OVER BASELINE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872474" y="3498673"/>
            <a:ext cx="6558342" cy="4652916"/>
            <a:chOff x="0" y="0"/>
            <a:chExt cx="1727300" cy="1225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7300" cy="1225459"/>
            </a:xfrm>
            <a:custGeom>
              <a:avLst/>
              <a:gdLst/>
              <a:ahLst/>
              <a:cxnLst/>
              <a:rect r="r" b="b" t="t" l="l"/>
              <a:pathLst>
                <a:path h="1225459" w="1727300">
                  <a:moveTo>
                    <a:pt x="0" y="0"/>
                  </a:moveTo>
                  <a:lnTo>
                    <a:pt x="1727300" y="0"/>
                  </a:lnTo>
                  <a:lnTo>
                    <a:pt x="1727300" y="1225459"/>
                  </a:lnTo>
                  <a:lnTo>
                    <a:pt x="0" y="1225459"/>
                  </a:lnTo>
                  <a:close/>
                </a:path>
              </a:pathLst>
            </a:custGeom>
            <a:solidFill>
              <a:srgbClr val="F3F2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27300" cy="1292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Top 10% donors </a:t>
              </a:r>
            </a:p>
            <a:p>
              <a:pPr algn="ctr">
                <a:lnSpc>
                  <a:spcPts val="8119"/>
                </a:lnSpc>
              </a:pPr>
              <a:r>
                <a:rPr lang="en-US" sz="5799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1.46× </a:t>
              </a:r>
            </a:p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more likely to respond than </a:t>
              </a:r>
            </a:p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baseline respons</a:t>
              </a:r>
              <a:r>
                <a:rPr lang="en-US" sz="3499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 rate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432" y="2515219"/>
            <a:ext cx="8782568" cy="4358349"/>
          </a:xfrm>
          <a:custGeom>
            <a:avLst/>
            <a:gdLst/>
            <a:ahLst/>
            <a:cxnLst/>
            <a:rect r="r" b="b" t="t" l="l"/>
            <a:pathLst>
              <a:path h="4358349" w="8782568">
                <a:moveTo>
                  <a:pt x="0" y="0"/>
                </a:moveTo>
                <a:lnTo>
                  <a:pt x="8782568" y="0"/>
                </a:lnTo>
                <a:lnTo>
                  <a:pt x="8782568" y="4358350"/>
                </a:lnTo>
                <a:lnTo>
                  <a:pt x="0" y="4358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515219"/>
            <a:ext cx="8783752" cy="4358937"/>
          </a:xfrm>
          <a:custGeom>
            <a:avLst/>
            <a:gdLst/>
            <a:ahLst/>
            <a:cxnLst/>
            <a:rect r="r" b="b" t="t" l="l"/>
            <a:pathLst>
              <a:path h="4358937" w="8783752">
                <a:moveTo>
                  <a:pt x="0" y="0"/>
                </a:moveTo>
                <a:lnTo>
                  <a:pt x="8783752" y="0"/>
                </a:lnTo>
                <a:lnTo>
                  <a:pt x="8783752" y="4358937"/>
                </a:lnTo>
                <a:lnTo>
                  <a:pt x="0" y="4358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1635"/>
            <a:ext cx="13122945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PROFIT &amp; ROI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83990" y="7144387"/>
            <a:ext cx="5506182" cy="187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26"/>
              </a:lnSpc>
            </a:pPr>
            <a:r>
              <a:rPr lang="en-US" sz="6447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€3380.8</a:t>
            </a:r>
          </a:p>
          <a:p>
            <a:pPr algn="ctr">
              <a:lnSpc>
                <a:spcPts val="5886"/>
              </a:lnSpc>
              <a:spcBef>
                <a:spcPct val="0"/>
              </a:spcBef>
            </a:pPr>
            <a:r>
              <a:rPr lang="en-US" sz="4204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Peak Profit at Top 10%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98554" y="7144387"/>
            <a:ext cx="5506182" cy="187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26"/>
              </a:lnSpc>
            </a:pPr>
            <a:r>
              <a:rPr lang="en-US" sz="6447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2.65</a:t>
            </a:r>
          </a:p>
          <a:p>
            <a:pPr algn="ctr">
              <a:lnSpc>
                <a:spcPts val="5886"/>
              </a:lnSpc>
              <a:spcBef>
                <a:spcPct val="0"/>
              </a:spcBef>
            </a:pPr>
            <a:r>
              <a:rPr lang="en-US" sz="4204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ROI</a:t>
            </a:r>
            <a:r>
              <a:rPr lang="en-US" sz="4204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at Top 10% 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809790" y="-1416669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81635"/>
            <a:ext cx="13122945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TARGET TOP 10%?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864923"/>
            <a:ext cx="15609174" cy="2278577"/>
          </a:xfrm>
          <a:custGeom>
            <a:avLst/>
            <a:gdLst/>
            <a:ahLst/>
            <a:cxnLst/>
            <a:rect r="r" b="b" t="t" l="l"/>
            <a:pathLst>
              <a:path h="2278577" w="15609174">
                <a:moveTo>
                  <a:pt x="0" y="0"/>
                </a:moveTo>
                <a:lnTo>
                  <a:pt x="15609174" y="0"/>
                </a:lnTo>
                <a:lnTo>
                  <a:pt x="15609174" y="2278577"/>
                </a:lnTo>
                <a:lnTo>
                  <a:pt x="0" y="2278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21" r="0" b="-52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024334"/>
            <a:ext cx="16230600" cy="265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6"/>
              </a:lnSpc>
              <a:spcBef>
                <a:spcPct val="0"/>
              </a:spcBef>
            </a:pPr>
            <a:r>
              <a:rPr lang="en-US" b="true" sz="3025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– </a:t>
            </a:r>
            <a:r>
              <a:rPr lang="en-US" b="true" sz="3025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model predicts more responders than the 1.8% baseline.</a:t>
            </a:r>
          </a:p>
          <a:p>
            <a:pPr algn="l">
              <a:lnSpc>
                <a:spcPts val="4236"/>
              </a:lnSpc>
              <a:spcBef>
                <a:spcPct val="0"/>
              </a:spcBef>
            </a:pPr>
          </a:p>
          <a:p>
            <a:pPr algn="l">
              <a:lnSpc>
                <a:spcPts val="4236"/>
              </a:lnSpc>
              <a:spcBef>
                <a:spcPct val="0"/>
              </a:spcBef>
            </a:pPr>
            <a:r>
              <a:rPr lang="en-US" b="true" sz="3025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–  Even though the baseline appears to generate more revenue in a hypothetical scenario. </a:t>
            </a:r>
          </a:p>
          <a:p>
            <a:pPr algn="l">
              <a:lnSpc>
                <a:spcPts val="4236"/>
              </a:lnSpc>
              <a:spcBef>
                <a:spcPct val="0"/>
              </a:spcBef>
            </a:pPr>
          </a:p>
          <a:p>
            <a:pPr algn="l">
              <a:lnSpc>
                <a:spcPts val="4236"/>
              </a:lnSpc>
              <a:spcBef>
                <a:spcPct val="0"/>
              </a:spcBef>
            </a:pPr>
            <a:r>
              <a:rPr lang="en-US" b="true" sz="3025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– It relies on knowing future donations - which is impossible.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809790" y="-1416669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925183" y="3437155"/>
            <a:ext cx="4538004" cy="3668459"/>
            <a:chOff x="0" y="0"/>
            <a:chExt cx="1195194" cy="9661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95194" cy="966179"/>
            </a:xfrm>
            <a:custGeom>
              <a:avLst/>
              <a:gdLst/>
              <a:ahLst/>
              <a:cxnLst/>
              <a:rect r="r" b="b" t="t" l="l"/>
              <a:pathLst>
                <a:path h="966179" w="1195194">
                  <a:moveTo>
                    <a:pt x="0" y="0"/>
                  </a:moveTo>
                  <a:lnTo>
                    <a:pt x="1195194" y="0"/>
                  </a:lnTo>
                  <a:lnTo>
                    <a:pt x="1195194" y="966179"/>
                  </a:lnTo>
                  <a:lnTo>
                    <a:pt x="0" y="966179"/>
                  </a:lnTo>
                  <a:close/>
                </a:path>
              </a:pathLst>
            </a:custGeom>
            <a:solidFill>
              <a:srgbClr val="F3F2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95194" cy="103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2D388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Highest ROI (2.65)</a:t>
              </a:r>
            </a:p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2D388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Strong profit (€3,381)</a:t>
              </a:r>
            </a:p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2D388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67 responders captured</a:t>
              </a:r>
            </a:p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343108"/>
            <a:ext cx="11301259" cy="3856555"/>
          </a:xfrm>
          <a:custGeom>
            <a:avLst/>
            <a:gdLst/>
            <a:ahLst/>
            <a:cxnLst/>
            <a:rect r="r" b="b" t="t" l="l"/>
            <a:pathLst>
              <a:path h="3856555" w="11301259">
                <a:moveTo>
                  <a:pt x="0" y="0"/>
                </a:moveTo>
                <a:lnTo>
                  <a:pt x="11301259" y="0"/>
                </a:lnTo>
                <a:lnTo>
                  <a:pt x="11301259" y="3856554"/>
                </a:lnTo>
                <a:lnTo>
                  <a:pt x="0" y="3856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81635"/>
            <a:ext cx="13122945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TARGET TOP 10%?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6784" y="3259814"/>
            <a:ext cx="6012256" cy="4077277"/>
          </a:xfrm>
          <a:custGeom>
            <a:avLst/>
            <a:gdLst/>
            <a:ahLst/>
            <a:cxnLst/>
            <a:rect r="r" b="b" t="t" l="l"/>
            <a:pathLst>
              <a:path h="4077277" w="6012256">
                <a:moveTo>
                  <a:pt x="0" y="0"/>
                </a:moveTo>
                <a:lnTo>
                  <a:pt x="6012256" y="0"/>
                </a:lnTo>
                <a:lnTo>
                  <a:pt x="6012256" y="4077277"/>
                </a:lnTo>
                <a:lnTo>
                  <a:pt x="0" y="4077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570878" y="3259814"/>
            <a:ext cx="5146245" cy="4077277"/>
          </a:xfrm>
          <a:custGeom>
            <a:avLst/>
            <a:gdLst/>
            <a:ahLst/>
            <a:cxnLst/>
            <a:rect r="r" b="b" t="t" l="l"/>
            <a:pathLst>
              <a:path h="4077277" w="5146245">
                <a:moveTo>
                  <a:pt x="0" y="0"/>
                </a:moveTo>
                <a:lnTo>
                  <a:pt x="5146244" y="0"/>
                </a:lnTo>
                <a:lnTo>
                  <a:pt x="5146244" y="4077277"/>
                </a:lnTo>
                <a:lnTo>
                  <a:pt x="0" y="4077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531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726647" y="3259814"/>
            <a:ext cx="5447936" cy="4077277"/>
          </a:xfrm>
          <a:custGeom>
            <a:avLst/>
            <a:gdLst/>
            <a:ahLst/>
            <a:cxnLst/>
            <a:rect r="r" b="b" t="t" l="l"/>
            <a:pathLst>
              <a:path h="4077277" w="5447936">
                <a:moveTo>
                  <a:pt x="0" y="0"/>
                </a:moveTo>
                <a:lnTo>
                  <a:pt x="5447936" y="0"/>
                </a:lnTo>
                <a:lnTo>
                  <a:pt x="5447936" y="4077277"/>
                </a:lnTo>
                <a:lnTo>
                  <a:pt x="0" y="4077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46784" y="602006"/>
            <a:ext cx="14624297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WHO ARE OUR TARGETED DONORS?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00994" y="7906591"/>
            <a:ext cx="10258663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Seniors and Adults have higher probability to donate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Female donors → Higher donation likelihood than male donors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63" y="3237544"/>
            <a:ext cx="6370287" cy="4284018"/>
          </a:xfrm>
          <a:custGeom>
            <a:avLst/>
            <a:gdLst/>
            <a:ahLst/>
            <a:cxnLst/>
            <a:rect r="r" b="b" t="t" l="l"/>
            <a:pathLst>
              <a:path h="4284018" w="6370287">
                <a:moveTo>
                  <a:pt x="0" y="0"/>
                </a:moveTo>
                <a:lnTo>
                  <a:pt x="6370287" y="0"/>
                </a:lnTo>
                <a:lnTo>
                  <a:pt x="6370287" y="4284018"/>
                </a:lnTo>
                <a:lnTo>
                  <a:pt x="0" y="4284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958750" y="3237544"/>
            <a:ext cx="5193752" cy="4284018"/>
          </a:xfrm>
          <a:custGeom>
            <a:avLst/>
            <a:gdLst/>
            <a:ahLst/>
            <a:cxnLst/>
            <a:rect r="r" b="b" t="t" l="l"/>
            <a:pathLst>
              <a:path h="4284018" w="5193752">
                <a:moveTo>
                  <a:pt x="0" y="0"/>
                </a:moveTo>
                <a:lnTo>
                  <a:pt x="5193752" y="0"/>
                </a:lnTo>
                <a:lnTo>
                  <a:pt x="5193752" y="4284018"/>
                </a:lnTo>
                <a:lnTo>
                  <a:pt x="0" y="4284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52502" y="3237544"/>
            <a:ext cx="5640175" cy="4284018"/>
          </a:xfrm>
          <a:custGeom>
            <a:avLst/>
            <a:gdLst/>
            <a:ahLst/>
            <a:cxnLst/>
            <a:rect r="r" b="b" t="t" l="l"/>
            <a:pathLst>
              <a:path h="4284018" w="5640175">
                <a:moveTo>
                  <a:pt x="0" y="0"/>
                </a:moveTo>
                <a:lnTo>
                  <a:pt x="5640175" y="0"/>
                </a:lnTo>
                <a:lnTo>
                  <a:pt x="5640175" y="4284018"/>
                </a:lnTo>
                <a:lnTo>
                  <a:pt x="0" y="42840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88463" y="602006"/>
            <a:ext cx="14624297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GEOGRAPHIC DISTRIBUTION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1233" y="8039407"/>
            <a:ext cx="14505027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West Flanders ,Antwerp ,East Flanders show the highest number of potential responders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Dutch NL speakers → Higher predicted donation probability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82390"/>
            <a:ext cx="7328478" cy="3104610"/>
          </a:xfrm>
          <a:custGeom>
            <a:avLst/>
            <a:gdLst/>
            <a:ahLst/>
            <a:cxnLst/>
            <a:rect r="r" b="b" t="t" l="l"/>
            <a:pathLst>
              <a:path h="3104610" w="7328478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43213" y="1966141"/>
            <a:ext cx="13920495" cy="6991524"/>
            <a:chOff x="0" y="0"/>
            <a:chExt cx="3666303" cy="18413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66303" cy="1841389"/>
            </a:xfrm>
            <a:custGeom>
              <a:avLst/>
              <a:gdLst/>
              <a:ahLst/>
              <a:cxnLst/>
              <a:rect r="r" b="b" t="t" l="l"/>
              <a:pathLst>
                <a:path h="1841389" w="3666303">
                  <a:moveTo>
                    <a:pt x="28364" y="0"/>
                  </a:moveTo>
                  <a:lnTo>
                    <a:pt x="3637940" y="0"/>
                  </a:lnTo>
                  <a:cubicBezTo>
                    <a:pt x="3653605" y="0"/>
                    <a:pt x="3666303" y="12699"/>
                    <a:pt x="3666303" y="28364"/>
                  </a:cubicBezTo>
                  <a:lnTo>
                    <a:pt x="3666303" y="1813025"/>
                  </a:lnTo>
                  <a:cubicBezTo>
                    <a:pt x="3666303" y="1828690"/>
                    <a:pt x="3653605" y="1841389"/>
                    <a:pt x="3637940" y="1841389"/>
                  </a:cubicBezTo>
                  <a:lnTo>
                    <a:pt x="28364" y="1841389"/>
                  </a:lnTo>
                  <a:cubicBezTo>
                    <a:pt x="12699" y="1841389"/>
                    <a:pt x="0" y="1828690"/>
                    <a:pt x="0" y="1813025"/>
                  </a:cubicBezTo>
                  <a:lnTo>
                    <a:pt x="0" y="28364"/>
                  </a:lnTo>
                  <a:cubicBezTo>
                    <a:pt x="0" y="12699"/>
                    <a:pt x="12699" y="0"/>
                    <a:pt x="283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rnd">
              <a:solidFill>
                <a:srgbClr val="CBCBEB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666303" cy="186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488276" y="691463"/>
            <a:ext cx="7955327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FINDINGS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64849" y="2694598"/>
            <a:ext cx="12158303" cy="547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770" indent="-280885" lvl="1">
              <a:lnSpc>
                <a:spcPts val="3642"/>
              </a:lnSpc>
              <a:buFont typeface="Arial"/>
              <a:buChar char="•"/>
            </a:pPr>
            <a:r>
              <a:rPr lang="en-US" sz="2601">
                <a:solidFill>
                  <a:srgbClr val="2D3880"/>
                </a:solidFill>
                <a:latin typeface="Open Sans"/>
                <a:ea typeface="Open Sans"/>
                <a:cs typeface="Open Sans"/>
                <a:sym typeface="Open Sans"/>
              </a:rPr>
              <a:t>The model clearly outperforms random targeting.</a:t>
            </a:r>
          </a:p>
          <a:p>
            <a:pPr algn="l">
              <a:lnSpc>
                <a:spcPts val="3642"/>
              </a:lnSpc>
            </a:pPr>
          </a:p>
          <a:p>
            <a:pPr algn="l" marL="561770" indent="-280885" lvl="1">
              <a:lnSpc>
                <a:spcPts val="3642"/>
              </a:lnSpc>
              <a:buFont typeface="Arial"/>
              <a:buChar char="•"/>
            </a:pPr>
            <a:r>
              <a:rPr lang="en-US" sz="2601">
                <a:solidFill>
                  <a:srgbClr val="2D3880"/>
                </a:solidFill>
                <a:latin typeface="Open Sans"/>
                <a:ea typeface="Open Sans"/>
                <a:cs typeface="Open Sans"/>
                <a:sym typeface="Open Sans"/>
              </a:rPr>
              <a:t> High predictive accuracy with a Test AUC in the high 0.80s.</a:t>
            </a:r>
          </a:p>
          <a:p>
            <a:pPr algn="l">
              <a:lnSpc>
                <a:spcPts val="3642"/>
              </a:lnSpc>
            </a:pPr>
          </a:p>
          <a:p>
            <a:pPr algn="l" marL="561770" indent="-280885" lvl="1">
              <a:lnSpc>
                <a:spcPts val="3642"/>
              </a:lnSpc>
              <a:buFont typeface="Arial"/>
              <a:buChar char="•"/>
            </a:pPr>
            <a:r>
              <a:rPr lang="en-US" sz="2601">
                <a:solidFill>
                  <a:srgbClr val="2D3880"/>
                </a:solidFill>
                <a:latin typeface="Open Sans"/>
                <a:ea typeface="Open Sans"/>
                <a:cs typeface="Open Sans"/>
                <a:sym typeface="Open Sans"/>
              </a:rPr>
              <a:t> Behavioral donation patterns are the strongest predictors.</a:t>
            </a:r>
          </a:p>
          <a:p>
            <a:pPr algn="l">
              <a:lnSpc>
                <a:spcPts val="3642"/>
              </a:lnSpc>
            </a:pPr>
          </a:p>
          <a:p>
            <a:pPr algn="l" marL="561770" indent="-280885" lvl="1">
              <a:lnSpc>
                <a:spcPts val="3642"/>
              </a:lnSpc>
              <a:buFont typeface="Arial"/>
              <a:buChar char="•"/>
            </a:pPr>
            <a:r>
              <a:rPr lang="en-US" sz="2601">
                <a:solidFill>
                  <a:srgbClr val="2D3880"/>
                </a:solidFill>
                <a:latin typeface="Open Sans"/>
                <a:ea typeface="Open Sans"/>
                <a:cs typeface="Open Sans"/>
                <a:sym typeface="Open Sans"/>
              </a:rPr>
              <a:t> The Top 10% of donors captures 35–40% of all responders.</a:t>
            </a:r>
          </a:p>
          <a:p>
            <a:pPr algn="l">
              <a:lnSpc>
                <a:spcPts val="3642"/>
              </a:lnSpc>
            </a:pPr>
          </a:p>
          <a:p>
            <a:pPr algn="l" marL="561770" indent="-280885" lvl="1">
              <a:lnSpc>
                <a:spcPts val="3642"/>
              </a:lnSpc>
              <a:buFont typeface="Arial"/>
              <a:buChar char="•"/>
            </a:pPr>
            <a:r>
              <a:rPr lang="en-US" sz="2601">
                <a:solidFill>
                  <a:srgbClr val="2D3880"/>
                </a:solidFill>
                <a:latin typeface="Open Sans"/>
                <a:ea typeface="Open Sans"/>
                <a:cs typeface="Open Sans"/>
                <a:sym typeface="Open Sans"/>
              </a:rPr>
              <a:t> Only the Top 5–10% segments generate higher profit than the  baseline.</a:t>
            </a:r>
          </a:p>
          <a:p>
            <a:pPr algn="l">
              <a:lnSpc>
                <a:spcPts val="3642"/>
              </a:lnSpc>
            </a:pPr>
          </a:p>
          <a:p>
            <a:pPr algn="l" marL="561770" indent="-280885" lvl="1">
              <a:lnSpc>
                <a:spcPts val="3642"/>
              </a:lnSpc>
              <a:buFont typeface="Arial"/>
              <a:buChar char="•"/>
            </a:pPr>
            <a:r>
              <a:rPr lang="en-US" sz="2601">
                <a:solidFill>
                  <a:srgbClr val="2D3880"/>
                </a:solidFill>
                <a:latin typeface="Open Sans"/>
                <a:ea typeface="Open Sans"/>
                <a:cs typeface="Open Sans"/>
                <a:sym typeface="Open Sans"/>
              </a:rPr>
              <a:t> Mailing more than 20% becomes unprofitable when compared to baseline.</a:t>
            </a:r>
          </a:p>
          <a:p>
            <a:pPr algn="ctr">
              <a:lnSpc>
                <a:spcPts val="364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80979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710192" y="3371636"/>
            <a:ext cx="477601" cy="753751"/>
            <a:chOff x="0" y="0"/>
            <a:chExt cx="51501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5016" cy="812800"/>
            </a:xfrm>
            <a:custGeom>
              <a:avLst/>
              <a:gdLst/>
              <a:ahLst/>
              <a:cxnLst/>
              <a:rect r="r" b="b" t="t" l="l"/>
              <a:pathLst>
                <a:path h="812800" w="515016">
                  <a:moveTo>
                    <a:pt x="257508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311816" y="0"/>
                  </a:lnTo>
                  <a:lnTo>
                    <a:pt x="311816" y="406400"/>
                  </a:lnTo>
                  <a:lnTo>
                    <a:pt x="515016" y="406400"/>
                  </a:lnTo>
                  <a:lnTo>
                    <a:pt x="257508" y="812800"/>
                  </a:lnTo>
                  <a:close/>
                </a:path>
              </a:pathLst>
            </a:custGeom>
            <a:solidFill>
              <a:srgbClr val="8382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03200" y="-57150"/>
              <a:ext cx="108616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71400" y="1450395"/>
            <a:ext cx="8177298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 strike="noStrike" u="non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RECOMMENDATION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68422"/>
            <a:ext cx="5226022" cy="50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0"/>
              </a:lnSpc>
              <a:spcBef>
                <a:spcPct val="0"/>
              </a:spcBef>
            </a:pPr>
            <a:r>
              <a:rPr lang="en-US" b="true" sz="2964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Focus mailings on the Top 10%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8079" y="4505248"/>
            <a:ext cx="4566642" cy="50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50"/>
              </a:lnSpc>
              <a:spcBef>
                <a:spcPct val="0"/>
              </a:spcBef>
            </a:pPr>
            <a:r>
              <a:rPr lang="en-US" b="true" sz="2964" strike="noStrike" u="non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Avoid mailing beyond 20%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542" y="5515850"/>
            <a:ext cx="8877458" cy="50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50"/>
              </a:lnSpc>
              <a:spcBef>
                <a:spcPct val="0"/>
              </a:spcBef>
            </a:pPr>
            <a:r>
              <a:rPr lang="en-US" b="true" sz="2964" strike="noStrike" u="non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Adopt this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6636354"/>
            <a:ext cx="8877458" cy="50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50"/>
              </a:lnSpc>
              <a:spcBef>
                <a:spcPct val="0"/>
              </a:spcBef>
            </a:pPr>
            <a:r>
              <a:rPr lang="en-US" b="true" sz="2964" strike="noStrike" u="non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Retrain periodically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90102" y="3496458"/>
            <a:ext cx="4981099" cy="44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best ROI and highest response rate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46049" y="4419843"/>
            <a:ext cx="10237908" cy="90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 additional letters do not generate enough revenue compared to baseline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46049" y="5540237"/>
            <a:ext cx="8943853" cy="90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 the targeting engine for top 10% population for  all future re-activation campaigns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90102" y="6693762"/>
            <a:ext cx="7440573" cy="44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maintain performance as donor behaviour evolves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6721513" y="4411211"/>
            <a:ext cx="477601" cy="753751"/>
            <a:chOff x="0" y="0"/>
            <a:chExt cx="515016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5016" cy="812800"/>
            </a:xfrm>
            <a:custGeom>
              <a:avLst/>
              <a:gdLst/>
              <a:ahLst/>
              <a:cxnLst/>
              <a:rect r="r" b="b" t="t" l="l"/>
              <a:pathLst>
                <a:path h="812800" w="515016">
                  <a:moveTo>
                    <a:pt x="257508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311816" y="0"/>
                  </a:lnTo>
                  <a:lnTo>
                    <a:pt x="311816" y="406400"/>
                  </a:lnTo>
                  <a:lnTo>
                    <a:pt x="515016" y="406400"/>
                  </a:lnTo>
                  <a:lnTo>
                    <a:pt x="257508" y="812800"/>
                  </a:lnTo>
                  <a:close/>
                </a:path>
              </a:pathLst>
            </a:custGeom>
            <a:solidFill>
              <a:srgbClr val="8382D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03200" y="-57150"/>
              <a:ext cx="108616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6710192" y="5534904"/>
            <a:ext cx="477601" cy="753751"/>
            <a:chOff x="0" y="0"/>
            <a:chExt cx="515016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016" cy="812800"/>
            </a:xfrm>
            <a:custGeom>
              <a:avLst/>
              <a:gdLst/>
              <a:ahLst/>
              <a:cxnLst/>
              <a:rect r="r" b="b" t="t" l="l"/>
              <a:pathLst>
                <a:path h="812800" w="515016">
                  <a:moveTo>
                    <a:pt x="257508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311816" y="0"/>
                  </a:lnTo>
                  <a:lnTo>
                    <a:pt x="311816" y="406400"/>
                  </a:lnTo>
                  <a:lnTo>
                    <a:pt x="515016" y="406400"/>
                  </a:lnTo>
                  <a:lnTo>
                    <a:pt x="257508" y="812800"/>
                  </a:lnTo>
                  <a:close/>
                </a:path>
              </a:pathLst>
            </a:custGeom>
            <a:solidFill>
              <a:srgbClr val="8382D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03200" y="-57150"/>
              <a:ext cx="108616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6710192" y="6555429"/>
            <a:ext cx="477601" cy="753751"/>
            <a:chOff x="0" y="0"/>
            <a:chExt cx="515016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5016" cy="812800"/>
            </a:xfrm>
            <a:custGeom>
              <a:avLst/>
              <a:gdLst/>
              <a:ahLst/>
              <a:cxnLst/>
              <a:rect r="r" b="b" t="t" l="l"/>
              <a:pathLst>
                <a:path h="812800" w="515016">
                  <a:moveTo>
                    <a:pt x="257508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311816" y="0"/>
                  </a:lnTo>
                  <a:lnTo>
                    <a:pt x="311816" y="406400"/>
                  </a:lnTo>
                  <a:lnTo>
                    <a:pt x="515016" y="406400"/>
                  </a:lnTo>
                  <a:lnTo>
                    <a:pt x="257508" y="812800"/>
                  </a:lnTo>
                  <a:close/>
                </a:path>
              </a:pathLst>
            </a:custGeom>
            <a:solidFill>
              <a:srgbClr val="8382D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203200" y="-57150"/>
              <a:ext cx="108616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066628" cy="10287000"/>
          </a:xfrm>
          <a:custGeom>
            <a:avLst/>
            <a:gdLst/>
            <a:ahLst/>
            <a:cxnLst/>
            <a:rect r="r" b="b" t="t" l="l"/>
            <a:pathLst>
              <a:path h="10287000" w="13066628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5419727"/>
            <a:ext cx="8115300" cy="206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0"/>
              </a:lnSpc>
            </a:pPr>
            <a:r>
              <a:rPr lang="en-US" b="true" sz="12007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DAG6clNLz7s</dc:identifier>
  <dcterms:modified xsi:type="dcterms:W3CDTF">2011-08-01T06:04:30Z</dcterms:modified>
  <cp:revision>1</cp:revision>
  <dc:title>White and Purple Simple Research Proposal Presentation</dc:title>
</cp:coreProperties>
</file>